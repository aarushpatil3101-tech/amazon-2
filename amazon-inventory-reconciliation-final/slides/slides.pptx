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1" d="100"/>
          <a:sy n="81" d="100"/>
        </p:scale>
        <p:origin x="725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arush Patil" userId="79c5156ef7b67ba4" providerId="LiveId" clId="{0202A621-02E2-41A6-AB70-5E8CFC45CE49}"/>
    <pc:docChg chg="custSel modSld">
      <pc:chgData name="Aarush Patil" userId="79c5156ef7b67ba4" providerId="LiveId" clId="{0202A621-02E2-41A6-AB70-5E8CFC45CE49}" dt="2026-10-15T19:38:39.315" v="58" actId="478"/>
      <pc:docMkLst>
        <pc:docMk/>
      </pc:docMkLst>
      <pc:sldChg chg="modSp mod">
        <pc:chgData name="Aarush Patil" userId="79c5156ef7b67ba4" providerId="LiveId" clId="{0202A621-02E2-41A6-AB70-5E8CFC45CE49}" dt="2026-10-15T19:36:32.541" v="44" actId="20577"/>
        <pc:sldMkLst>
          <pc:docMk/>
          <pc:sldMk cId="0" sldId="256"/>
        </pc:sldMkLst>
        <pc:spChg chg="mod">
          <ac:chgData name="Aarush Patil" userId="79c5156ef7b67ba4" providerId="LiveId" clId="{0202A621-02E2-41A6-AB70-5E8CFC45CE49}" dt="2026-10-15T19:36:32.541" v="44" actId="20577"/>
          <ac:spMkLst>
            <pc:docMk/>
            <pc:sldMk cId="0" sldId="256"/>
            <ac:spMk id="4" creationId="{00000000-0000-0000-0000-000000000000}"/>
          </ac:spMkLst>
        </pc:spChg>
      </pc:sldChg>
      <pc:sldChg chg="delSp mod">
        <pc:chgData name="Aarush Patil" userId="79c5156ef7b67ba4" providerId="LiveId" clId="{0202A621-02E2-41A6-AB70-5E8CFC45CE49}" dt="2026-10-15T19:37:45.074" v="45" actId="478"/>
        <pc:sldMkLst>
          <pc:docMk/>
          <pc:sldMk cId="0" sldId="257"/>
        </pc:sldMkLst>
        <pc:spChg chg="del">
          <ac:chgData name="Aarush Patil" userId="79c5156ef7b67ba4" providerId="LiveId" clId="{0202A621-02E2-41A6-AB70-5E8CFC45CE49}" dt="2026-10-15T19:37:45.074" v="45" actId="478"/>
          <ac:spMkLst>
            <pc:docMk/>
            <pc:sldMk cId="0" sldId="257"/>
            <ac:spMk id="4" creationId="{00000000-0000-0000-0000-000000000000}"/>
          </ac:spMkLst>
        </pc:spChg>
      </pc:sldChg>
      <pc:sldChg chg="delSp mod">
        <pc:chgData name="Aarush Patil" userId="79c5156ef7b67ba4" providerId="LiveId" clId="{0202A621-02E2-41A6-AB70-5E8CFC45CE49}" dt="2026-10-15T19:37:50.401" v="46" actId="478"/>
        <pc:sldMkLst>
          <pc:docMk/>
          <pc:sldMk cId="0" sldId="258"/>
        </pc:sldMkLst>
        <pc:spChg chg="del">
          <ac:chgData name="Aarush Patil" userId="79c5156ef7b67ba4" providerId="LiveId" clId="{0202A621-02E2-41A6-AB70-5E8CFC45CE49}" dt="2026-10-15T19:37:50.401" v="46" actId="478"/>
          <ac:spMkLst>
            <pc:docMk/>
            <pc:sldMk cId="0" sldId="258"/>
            <ac:spMk id="4" creationId="{00000000-0000-0000-0000-000000000000}"/>
          </ac:spMkLst>
        </pc:spChg>
      </pc:sldChg>
      <pc:sldChg chg="delSp mod">
        <pc:chgData name="Aarush Patil" userId="79c5156ef7b67ba4" providerId="LiveId" clId="{0202A621-02E2-41A6-AB70-5E8CFC45CE49}" dt="2026-10-15T19:37:54.461" v="47" actId="478"/>
        <pc:sldMkLst>
          <pc:docMk/>
          <pc:sldMk cId="0" sldId="259"/>
        </pc:sldMkLst>
        <pc:spChg chg="del">
          <ac:chgData name="Aarush Patil" userId="79c5156ef7b67ba4" providerId="LiveId" clId="{0202A621-02E2-41A6-AB70-5E8CFC45CE49}" dt="2026-10-15T19:37:54.461" v="47" actId="478"/>
          <ac:spMkLst>
            <pc:docMk/>
            <pc:sldMk cId="0" sldId="259"/>
            <ac:spMk id="4" creationId="{00000000-0000-0000-0000-000000000000}"/>
          </ac:spMkLst>
        </pc:spChg>
      </pc:sldChg>
      <pc:sldChg chg="delSp mod">
        <pc:chgData name="Aarush Patil" userId="79c5156ef7b67ba4" providerId="LiveId" clId="{0202A621-02E2-41A6-AB70-5E8CFC45CE49}" dt="2026-10-15T19:37:57.416" v="48" actId="478"/>
        <pc:sldMkLst>
          <pc:docMk/>
          <pc:sldMk cId="0" sldId="260"/>
        </pc:sldMkLst>
        <pc:spChg chg="del">
          <ac:chgData name="Aarush Patil" userId="79c5156ef7b67ba4" providerId="LiveId" clId="{0202A621-02E2-41A6-AB70-5E8CFC45CE49}" dt="2026-10-15T19:37:57.416" v="48" actId="478"/>
          <ac:spMkLst>
            <pc:docMk/>
            <pc:sldMk cId="0" sldId="260"/>
            <ac:spMk id="4" creationId="{00000000-0000-0000-0000-000000000000}"/>
          </ac:spMkLst>
        </pc:spChg>
      </pc:sldChg>
      <pc:sldChg chg="delSp modSp mod">
        <pc:chgData name="Aarush Patil" userId="79c5156ef7b67ba4" providerId="LiveId" clId="{0202A621-02E2-41A6-AB70-5E8CFC45CE49}" dt="2026-10-15T19:38:04.036" v="50" actId="478"/>
        <pc:sldMkLst>
          <pc:docMk/>
          <pc:sldMk cId="0" sldId="261"/>
        </pc:sldMkLst>
        <pc:spChg chg="del mod">
          <ac:chgData name="Aarush Patil" userId="79c5156ef7b67ba4" providerId="LiveId" clId="{0202A621-02E2-41A6-AB70-5E8CFC45CE49}" dt="2026-10-15T19:38:04.036" v="50" actId="478"/>
          <ac:spMkLst>
            <pc:docMk/>
            <pc:sldMk cId="0" sldId="261"/>
            <ac:spMk id="4" creationId="{00000000-0000-0000-0000-000000000000}"/>
          </ac:spMkLst>
        </pc:spChg>
      </pc:sldChg>
      <pc:sldChg chg="delSp mod">
        <pc:chgData name="Aarush Patil" userId="79c5156ef7b67ba4" providerId="LiveId" clId="{0202A621-02E2-41A6-AB70-5E8CFC45CE49}" dt="2026-10-15T19:38:08.172" v="51" actId="478"/>
        <pc:sldMkLst>
          <pc:docMk/>
          <pc:sldMk cId="0" sldId="262"/>
        </pc:sldMkLst>
        <pc:spChg chg="del">
          <ac:chgData name="Aarush Patil" userId="79c5156ef7b67ba4" providerId="LiveId" clId="{0202A621-02E2-41A6-AB70-5E8CFC45CE49}" dt="2026-10-15T19:38:08.172" v="51" actId="478"/>
          <ac:spMkLst>
            <pc:docMk/>
            <pc:sldMk cId="0" sldId="262"/>
            <ac:spMk id="4" creationId="{00000000-0000-0000-0000-000000000000}"/>
          </ac:spMkLst>
        </pc:spChg>
      </pc:sldChg>
      <pc:sldChg chg="delSp mod">
        <pc:chgData name="Aarush Patil" userId="79c5156ef7b67ba4" providerId="LiveId" clId="{0202A621-02E2-41A6-AB70-5E8CFC45CE49}" dt="2026-10-15T19:38:39.315" v="58" actId="478"/>
        <pc:sldMkLst>
          <pc:docMk/>
          <pc:sldMk cId="0" sldId="263"/>
        </pc:sldMkLst>
        <pc:spChg chg="del">
          <ac:chgData name="Aarush Patil" userId="79c5156ef7b67ba4" providerId="LiveId" clId="{0202A621-02E2-41A6-AB70-5E8CFC45CE49}" dt="2026-10-15T19:38:39.315" v="58" actId="478"/>
          <ac:spMkLst>
            <pc:docMk/>
            <pc:sldMk cId="0" sldId="263"/>
            <ac:spMk id="4" creationId="{00000000-0000-0000-0000-000000000000}"/>
          </ac:spMkLst>
        </pc:spChg>
      </pc:sldChg>
      <pc:sldChg chg="delSp mod">
        <pc:chgData name="Aarush Patil" userId="79c5156ef7b67ba4" providerId="LiveId" clId="{0202A621-02E2-41A6-AB70-5E8CFC45CE49}" dt="2026-10-15T19:38:34.595" v="57" actId="478"/>
        <pc:sldMkLst>
          <pc:docMk/>
          <pc:sldMk cId="0" sldId="264"/>
        </pc:sldMkLst>
        <pc:spChg chg="del">
          <ac:chgData name="Aarush Patil" userId="79c5156ef7b67ba4" providerId="LiveId" clId="{0202A621-02E2-41A6-AB70-5E8CFC45CE49}" dt="2026-10-15T19:38:34.595" v="57" actId="478"/>
          <ac:spMkLst>
            <pc:docMk/>
            <pc:sldMk cId="0" sldId="264"/>
            <ac:spMk id="4" creationId="{00000000-0000-0000-0000-000000000000}"/>
          </ac:spMkLst>
        </pc:spChg>
      </pc:sldChg>
      <pc:sldChg chg="delSp mod">
        <pc:chgData name="Aarush Patil" userId="79c5156ef7b67ba4" providerId="LiveId" clId="{0202A621-02E2-41A6-AB70-5E8CFC45CE49}" dt="2026-10-15T19:38:31.357" v="56" actId="478"/>
        <pc:sldMkLst>
          <pc:docMk/>
          <pc:sldMk cId="0" sldId="265"/>
        </pc:sldMkLst>
        <pc:spChg chg="del">
          <ac:chgData name="Aarush Patil" userId="79c5156ef7b67ba4" providerId="LiveId" clId="{0202A621-02E2-41A6-AB70-5E8CFC45CE49}" dt="2026-10-15T19:38:31.357" v="56" actId="478"/>
          <ac:spMkLst>
            <pc:docMk/>
            <pc:sldMk cId="0" sldId="265"/>
            <ac:spMk id="4" creationId="{00000000-0000-0000-0000-000000000000}"/>
          </ac:spMkLst>
        </pc:spChg>
      </pc:sldChg>
      <pc:sldChg chg="delSp mod">
        <pc:chgData name="Aarush Patil" userId="79c5156ef7b67ba4" providerId="LiveId" clId="{0202A621-02E2-41A6-AB70-5E8CFC45CE49}" dt="2026-10-15T19:38:27.665" v="55" actId="478"/>
        <pc:sldMkLst>
          <pc:docMk/>
          <pc:sldMk cId="0" sldId="266"/>
        </pc:sldMkLst>
        <pc:spChg chg="del">
          <ac:chgData name="Aarush Patil" userId="79c5156ef7b67ba4" providerId="LiveId" clId="{0202A621-02E2-41A6-AB70-5E8CFC45CE49}" dt="2026-10-15T19:38:27.665" v="55" actId="478"/>
          <ac:spMkLst>
            <pc:docMk/>
            <pc:sldMk cId="0" sldId="266"/>
            <ac:spMk id="4" creationId="{00000000-0000-0000-0000-000000000000}"/>
          </ac:spMkLst>
        </pc:spChg>
      </pc:sldChg>
      <pc:sldChg chg="delSp mod">
        <pc:chgData name="Aarush Patil" userId="79c5156ef7b67ba4" providerId="LiveId" clId="{0202A621-02E2-41A6-AB70-5E8CFC45CE49}" dt="2026-10-15T19:38:24.489" v="54" actId="478"/>
        <pc:sldMkLst>
          <pc:docMk/>
          <pc:sldMk cId="0" sldId="267"/>
        </pc:sldMkLst>
        <pc:spChg chg="del">
          <ac:chgData name="Aarush Patil" userId="79c5156ef7b67ba4" providerId="LiveId" clId="{0202A621-02E2-41A6-AB70-5E8CFC45CE49}" dt="2026-10-15T19:38:24.489" v="54" actId="478"/>
          <ac:spMkLst>
            <pc:docMk/>
            <pc:sldMk cId="0" sldId="267"/>
            <ac:spMk id="4" creationId="{00000000-0000-0000-0000-000000000000}"/>
          </ac:spMkLst>
        </pc:spChg>
      </pc:sldChg>
      <pc:sldChg chg="delSp mod">
        <pc:chgData name="Aarush Patil" userId="79c5156ef7b67ba4" providerId="LiveId" clId="{0202A621-02E2-41A6-AB70-5E8CFC45CE49}" dt="2026-10-15T19:38:21.038" v="53" actId="478"/>
        <pc:sldMkLst>
          <pc:docMk/>
          <pc:sldMk cId="0" sldId="268"/>
        </pc:sldMkLst>
        <pc:spChg chg="del">
          <ac:chgData name="Aarush Patil" userId="79c5156ef7b67ba4" providerId="LiveId" clId="{0202A621-02E2-41A6-AB70-5E8CFC45CE49}" dt="2026-10-15T19:38:21.038" v="53" actId="478"/>
          <ac:spMkLst>
            <pc:docMk/>
            <pc:sldMk cId="0" sldId="268"/>
            <ac:spMk id="4" creationId="{00000000-0000-0000-0000-000000000000}"/>
          </ac:spMkLst>
        </pc:spChg>
      </pc:sldChg>
      <pc:sldChg chg="delSp mod">
        <pc:chgData name="Aarush Patil" userId="79c5156ef7b67ba4" providerId="LiveId" clId="{0202A621-02E2-41A6-AB70-5E8CFC45CE49}" dt="2026-10-15T19:38:17.389" v="52" actId="478"/>
        <pc:sldMkLst>
          <pc:docMk/>
          <pc:sldMk cId="0" sldId="269"/>
        </pc:sldMkLst>
        <pc:spChg chg="del">
          <ac:chgData name="Aarush Patil" userId="79c5156ef7b67ba4" providerId="LiveId" clId="{0202A621-02E2-41A6-AB70-5E8CFC45CE49}" dt="2026-10-15T19:38:17.389" v="52" actId="478"/>
          <ac:spMkLst>
            <pc:docMk/>
            <pc:sldMk cId="0" sldId="269"/>
            <ac:spMk id="4" creationId="{00000000-0000-0000-0000-000000000000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r>
              <a:rPr lang="en-US" sz="1400">
                <a:latin typeface="Calibri"/>
              </a:rPr>
              <a:t>Images per class (items in bin)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Images per class (items in bin)</c:v>
                </c:pt>
              </c:strCache>
            </c:strRef>
          </c:tx>
          <c:spPr>
            <a:solidFill>
              <a:srgbClr val="1F3A5F"/>
            </a:solidFill>
          </c:spPr>
          <c:invertIfNegative val="1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>
                    <a:latin typeface="Calibri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848</c:v>
                </c:pt>
                <c:pt idx="1">
                  <c:v>3368</c:v>
                </c:pt>
                <c:pt idx="2">
                  <c:v>6387</c:v>
                </c:pt>
                <c:pt idx="3">
                  <c:v>7598</c:v>
                </c:pt>
                <c:pt idx="4">
                  <c:v>6660</c:v>
                </c:pt>
                <c:pt idx="5">
                  <c:v>5139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12DB-4420-8DD5-842B4F93F0B3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100">
                <a:latin typeface="Calibri"/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9117.6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r>
              <a:rPr lang="en-IN" sz="1400">
                <a:latin typeface="Calibri"/>
              </a:rPr>
              <a:t>Test accuracy (%)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Test accuracy (%)</c:v>
                </c:pt>
              </c:strCache>
            </c:strRef>
          </c:tx>
          <c:spPr>
            <a:solidFill>
              <a:srgbClr val="1F3A5F"/>
            </a:solidFill>
          </c:spPr>
          <c:invertIfNegative val="1"/>
          <c:dPt>
            <c:idx val="5"/>
            <c:invertIfNegative val="1"/>
            <c:bubble3D val="0"/>
            <c:spPr>
              <a:solidFill>
                <a:srgbClr val="2A9D8F"/>
              </a:solidFill>
            </c:spPr>
            <c:extLst>
              <c:ext xmlns:c16="http://schemas.microsoft.com/office/drawing/2014/chart" uri="{C3380CC4-5D6E-409C-BE32-E72D297353CC}">
                <c16:uniqueId val="{00000001-7C97-4528-8C73-9DE6EF66461B}"/>
              </c:ext>
            </c:extLst>
          </c:dPt>
          <c:dLbls>
            <c:numFmt formatCode="0.0&quot;%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>
                    <a:latin typeface="Calibri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LogReg (PCA)</c:v>
                </c:pt>
                <c:pt idx="1">
                  <c:v>Linear SVM (PCA)</c:v>
                </c:pt>
                <c:pt idx="2">
                  <c:v>Decision tree (PCA)</c:v>
                </c:pt>
                <c:pt idx="3">
                  <c:v>RBF-SVM (PCA)</c:v>
                </c:pt>
                <c:pt idx="4">
                  <c:v>RBF-SVM (HOG)</c:v>
                </c:pt>
                <c:pt idx="5">
                  <c:v>resnet34 cls</c:v>
                </c:pt>
                <c:pt idx="6">
                  <c:v>resnet34 ordinal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28.499999999999996</c:v>
                </c:pt>
                <c:pt idx="1">
                  <c:v>27.666666666666668</c:v>
                </c:pt>
                <c:pt idx="2">
                  <c:v>25.5</c:v>
                </c:pt>
                <c:pt idx="3">
                  <c:v>29.799999999999997</c:v>
                </c:pt>
                <c:pt idx="4">
                  <c:v>31.933333333333337</c:v>
                </c:pt>
                <c:pt idx="5">
                  <c:v>41.166666666666671</c:v>
                </c:pt>
                <c:pt idx="6">
                  <c:v>39.4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2-7C97-4528-8C73-9DE6EF66461B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100">
                <a:latin typeface="Calibri"/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  <c:max val="49.400000000000006"/>
          <c:min val="0"/>
        </c:scaling>
        <c:delete val="1"/>
        <c:axPos val="l"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32306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Intro: one-line pitch. Problem = count items in a bin from a photo, use it to catch inventory mismatches.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business value: recount only flagged bins instead of auditing everything.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1828800"/>
            <a:ext cx="10698480" cy="10972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Amazon Inventory Reconciliation Using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017520"/>
            <a:ext cx="9601200" cy="9144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200" b="0" i="0">
                <a:solidFill>
                  <a:srgbClr val="C9D6E3"/>
                </a:solidFill>
                <a:latin typeface="Calibri"/>
              </a:rPr>
              <a:t>Counting the items in a fulfilment-centre bin from one photo - and flagging bins whose recorded inventory disagrees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492377"/>
            <a:ext cx="9144000" cy="707886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000" b="1" i="0" dirty="0">
                <a:solidFill>
                  <a:srgbClr val="FFFFFF"/>
                </a:solidFill>
                <a:latin typeface="Calibri"/>
              </a:rPr>
              <a:t>Aarush Patil  |  PES1UG24AM005</a:t>
            </a:r>
            <a:br>
              <a:rPr lang="en-IN" sz="2000" b="1" i="0" dirty="0">
                <a:solidFill>
                  <a:srgbClr val="FFFFFF"/>
                </a:solidFill>
                <a:latin typeface="Calibri"/>
              </a:rPr>
            </a:br>
            <a:r>
              <a:rPr lang="en-IN" sz="2000" b="1" i="0" dirty="0">
                <a:solidFill>
                  <a:srgbClr val="FFFFFF"/>
                </a:solidFill>
                <a:latin typeface="Calibri"/>
              </a:rPr>
              <a:t>Aryan Arora  |  PES1UG24AM055</a:t>
            </a:r>
            <a:endParaRPr sz="2000" b="1" i="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5303520"/>
            <a:ext cx="91440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0" i="0">
                <a:solidFill>
                  <a:srgbClr val="C9D6E3"/>
                </a:solidFill>
                <a:latin typeface="Calibri"/>
              </a:rPr>
              <a:t>UE24CS352A Machine Learning - Mini-Project  |  PES University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3000" b="1" i="0">
                <a:solidFill>
                  <a:srgbClr val="1F3A5F"/>
                </a:solidFill>
                <a:latin typeface="Calibri"/>
              </a:rPr>
              <a:t>The problem: recorded inventory vs. what is really in the bin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822960" cy="64008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064240" y="6400800"/>
            <a:ext cx="5486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100" b="0" i="0">
                <a:solidFill>
                  <a:srgbClr val="6B7785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56692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900" b="1">
                <a:solidFill>
                  <a:srgbClr val="1F3A5F"/>
                </a:solidFill>
                <a:latin typeface="Calibri"/>
              </a:rPr>
              <a:t>Setting: </a:t>
            </a:r>
            <a:r>
              <a:rPr sz="1900">
                <a:solidFill>
                  <a:srgbClr val="222B38"/>
                </a:solidFill>
                <a:latin typeface="Calibri"/>
              </a:rPr>
              <a:t>robots carry fabric bins in Amazon fulfilment centres; items get misplaced while handled.</a:t>
            </a:r>
          </a:p>
          <a:p>
            <a:pPr>
              <a:spcAft>
                <a:spcPts val="800"/>
              </a:spcAft>
            </a:pPr>
            <a:r>
              <a:rPr sz="1900" b="1">
                <a:solidFill>
                  <a:srgbClr val="1F3A5F"/>
                </a:solidFill>
                <a:latin typeface="Calibri"/>
              </a:rPr>
              <a:t>Consequence: </a:t>
            </a:r>
            <a:r>
              <a:rPr sz="1900">
                <a:solidFill>
                  <a:srgbClr val="222B38"/>
                </a:solidFill>
                <a:latin typeface="Calibri"/>
              </a:rPr>
              <a:t>recorded count != actual count, so customers get late or wrong deliveries.</a:t>
            </a:r>
          </a:p>
          <a:p>
            <a:pPr>
              <a:spcAft>
                <a:spcPts val="800"/>
              </a:spcAft>
            </a:pPr>
            <a:r>
              <a:rPr sz="1900" b="1">
                <a:solidFill>
                  <a:srgbClr val="1F3A5F"/>
                </a:solidFill>
                <a:latin typeface="Calibri"/>
              </a:rPr>
              <a:t>Our task: </a:t>
            </a:r>
            <a:r>
              <a:rPr sz="1900">
                <a:solidFill>
                  <a:srgbClr val="222B38"/>
                </a:solidFill>
                <a:latin typeface="Calibri"/>
              </a:rPr>
              <a:t>predict the number of items (0-5) from a bin photo; compare with the recorded count.</a:t>
            </a:r>
          </a:p>
          <a:p>
            <a:pPr>
              <a:spcAft>
                <a:spcPts val="800"/>
              </a:spcAft>
            </a:pPr>
            <a:r>
              <a:rPr sz="1900" b="1">
                <a:solidFill>
                  <a:srgbClr val="1F3A5F"/>
                </a:solidFill>
                <a:latin typeface="Calibri"/>
              </a:rPr>
              <a:t>Why hard: </a:t>
            </a:r>
            <a:r>
              <a:rPr sz="1900">
                <a:solidFill>
                  <a:srgbClr val="222B38"/>
                </a:solidFill>
                <a:latin typeface="Calibri"/>
              </a:rPr>
              <a:t>occlusion by tape/bags, mixed shapes, 450K+ different products.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2011680"/>
            <a:ext cx="1120140" cy="1371600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Bin photo</a:t>
            </a:r>
          </a:p>
        </p:txBody>
      </p:sp>
      <p:sp>
        <p:nvSpPr>
          <p:cNvPr id="8" name="Right Arrow 7"/>
          <p:cNvSpPr/>
          <p:nvPr/>
        </p:nvSpPr>
        <p:spPr>
          <a:xfrm>
            <a:off x="7557515" y="2578608"/>
            <a:ext cx="201167" cy="237744"/>
          </a:xfrm>
          <a:prstGeom prst="rightArrow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795260" y="2011680"/>
            <a:ext cx="1120140" cy="1371600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CNN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counts items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8951976" y="2578608"/>
            <a:ext cx="201167" cy="237744"/>
          </a:xfrm>
          <a:prstGeom prst="rightArrow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9189720" y="2011680"/>
            <a:ext cx="1120140" cy="1371600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Predicted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vs recorded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10346436" y="2578608"/>
            <a:ext cx="201167" cy="237744"/>
          </a:xfrm>
          <a:prstGeom prst="rightArrow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10584180" y="2011680"/>
            <a:ext cx="1120140" cy="1371600"/>
          </a:xfrm>
          <a:prstGeom prst="round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MATCH /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VARIANCE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3749039"/>
            <a:ext cx="5303520" cy="10972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600" b="0" i="0">
                <a:solidFill>
                  <a:srgbClr val="6B7785"/>
                </a:solidFill>
                <a:latin typeface="Calibri"/>
              </a:rPr>
              <a:t>Reconciliation = flag bins where the camera disagrees with the system, then recount only those.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3000" b="1" i="0">
                <a:solidFill>
                  <a:srgbClr val="1F3A5F"/>
                </a:solidFill>
                <a:latin typeface="Calibri"/>
              </a:rPr>
              <a:t>Dataset: Amazon Bin Image Dataset (ABID)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822960" cy="64008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064240" y="6400800"/>
            <a:ext cx="5486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100" b="0" i="0">
                <a:solidFill>
                  <a:srgbClr val="6B7785"/>
                </a:solidFill>
                <a:latin typeface="Calibri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58521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1">
                <a:solidFill>
                  <a:srgbClr val="1F3A5F"/>
                </a:solidFill>
                <a:latin typeface="Calibri"/>
              </a:rPr>
              <a:t>Source: </a:t>
            </a:r>
            <a:r>
              <a:rPr sz="1800">
                <a:solidFill>
                  <a:srgbClr val="222B38"/>
                </a:solidFill>
                <a:latin typeface="Calibri"/>
              </a:rPr>
              <a:t>public AWS Open Data bucket aft-vbi-pds, 535,234 bin photos with JSON metadata.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1F3A5F"/>
                </a:solidFill>
                <a:latin typeface="Calibri"/>
              </a:rPr>
              <a:t>Label: </a:t>
            </a:r>
            <a:r>
              <a:rPr sz="1800">
                <a:solidFill>
                  <a:srgbClr val="222B38"/>
                </a:solidFill>
                <a:latin typeface="Calibri"/>
              </a:rPr>
              <a:t>EXPECTED_QUANTITY = number of items in the bin.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1F3A5F"/>
                </a:solidFill>
                <a:latin typeface="Calibri"/>
              </a:rPr>
              <a:t>Our subset: </a:t>
            </a:r>
            <a:r>
              <a:rPr sz="1800">
                <a:solidFill>
                  <a:srgbClr val="222B38"/>
                </a:solidFill>
                <a:latin typeface="Calibri"/>
              </a:rPr>
              <a:t>random sample (seed 42), bins with 0-5 items, resized to 224x224.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1F3A5F"/>
                </a:solidFill>
                <a:latin typeface="Calibri"/>
              </a:rPr>
              <a:t>Split: </a:t>
            </a:r>
            <a:r>
              <a:rPr sz="1800">
                <a:solidFill>
                  <a:srgbClr val="222B38"/>
                </a:solidFill>
                <a:latin typeface="Calibri"/>
              </a:rPr>
              <a:t>30,000 images: 21,000 train / 6,000 val / 3,000 test (stratified 70/20/10).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1F3A5F"/>
                </a:solidFill>
                <a:latin typeface="Calibri"/>
              </a:rPr>
              <a:t>Caveat: </a:t>
            </a:r>
            <a:r>
              <a:rPr sz="1800">
                <a:solidFill>
                  <a:srgbClr val="222B38"/>
                </a:solidFill>
                <a:latin typeface="Calibri"/>
              </a:rPr>
              <a:t>some photos are unreadable even for humans.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6583680" y="1371600"/>
          <a:ext cx="502920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3000" b="1" i="0">
                <a:solidFill>
                  <a:srgbClr val="1F3A5F"/>
                </a:solidFill>
                <a:latin typeface="Calibri"/>
              </a:rPr>
              <a:t>Approach: one reproducible pipeline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822960" cy="64008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064240" y="6400800"/>
            <a:ext cx="5486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100" b="0" i="0">
                <a:solidFill>
                  <a:srgbClr val="6B7785"/>
                </a:solidFill>
                <a:latin typeface="Calibri"/>
              </a:rP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03120"/>
            <a:ext cx="1956815" cy="1463040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Download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+ resize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542032" y="2715768"/>
            <a:ext cx="246887" cy="237744"/>
          </a:xfrm>
          <a:prstGeom prst="rightArrow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2825496" y="2103120"/>
            <a:ext cx="1956815" cy="1463040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Stratified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split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818888" y="2715768"/>
            <a:ext cx="246887" cy="237744"/>
          </a:xfrm>
          <a:prstGeom prst="rightArrow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5102351" y="2103120"/>
            <a:ext cx="1956815" cy="1463040"/>
          </a:xfrm>
          <a:prstGeom prst="roundRect">
            <a:avLst/>
          </a:prstGeom>
          <a:solidFill>
            <a:srgbClr val="6B778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Baselines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PCA / HOG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7095743" y="2715768"/>
            <a:ext cx="246887" cy="237744"/>
          </a:xfrm>
          <a:prstGeom prst="rightArrow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7379207" y="2103120"/>
            <a:ext cx="1956815" cy="1463040"/>
          </a:xfrm>
          <a:prstGeom prst="round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ResNet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transfer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9372599" y="2715768"/>
            <a:ext cx="246887" cy="237744"/>
          </a:xfrm>
          <a:prstGeom prst="rightArrow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9656063" y="2103120"/>
            <a:ext cx="1956815" cy="1463040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Evaluate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+ reconcile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023360"/>
            <a:ext cx="105156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>
                <a:solidFill>
                  <a:srgbClr val="222B38"/>
                </a:solidFill>
                <a:latin typeface="Calibri"/>
              </a:rPr>
              <a:t>download_data.py, build_splits.py - data over HTTPS, no AWS account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222B38"/>
                </a:solidFill>
                <a:latin typeface="Calibri"/>
              </a:rPr>
              <a:t>baselines.py - scikit-learn models on PCA / HOG features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222B38"/>
                </a:solidFill>
                <a:latin typeface="Calibri"/>
              </a:rPr>
              <a:t>train_cnn.py - PyTorch ResNet with SGDR, LR finder, AMP, TTA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222B38"/>
                </a:solidFill>
                <a:latin typeface="Calibri"/>
              </a:rPr>
              <a:t>make_results.py, demo.py - metrics, figures, variance detection, Gradio app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3000" b="1" i="0">
                <a:solidFill>
                  <a:srgbClr val="1F3A5F"/>
                </a:solidFill>
                <a:latin typeface="Calibri"/>
              </a:rPr>
              <a:t>Classical baselines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822960" cy="64008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064240" y="6400800"/>
            <a:ext cx="5486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100" b="0" i="0">
                <a:solidFill>
                  <a:srgbClr val="6B7785"/>
                </a:solidFill>
                <a:latin typeface="Calibri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51206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1">
                <a:solidFill>
                  <a:srgbClr val="1F3A5F"/>
                </a:solidFill>
                <a:latin typeface="Calibri"/>
              </a:rPr>
              <a:t>Features: </a:t>
            </a:r>
            <a:r>
              <a:rPr sz="1700">
                <a:solidFill>
                  <a:srgbClr val="222B38"/>
                </a:solidFill>
                <a:latin typeface="Calibri"/>
              </a:rPr>
              <a:t>64x64 raw pixels -&gt; standardise -&gt; randomized PCA (256 comps); HOG on grayscale.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1F3A5F"/>
                </a:solidFill>
                <a:latin typeface="Calibri"/>
              </a:rPr>
              <a:t>Models: </a:t>
            </a:r>
            <a:r>
              <a:rPr sz="1700">
                <a:solidFill>
                  <a:srgbClr val="222B38"/>
                </a:solidFill>
                <a:latin typeface="Calibri"/>
              </a:rPr>
              <a:t>logistic regression, linear SVM, decision tree, RBF-SVM (8K train subsample).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1F3A5F"/>
                </a:solidFill>
                <a:latin typeface="Calibri"/>
              </a:rPr>
              <a:t>Tuning: </a:t>
            </a:r>
            <a:r>
              <a:rPr sz="1700">
                <a:solidFill>
                  <a:srgbClr val="222B38"/>
                </a:solidFill>
                <a:latin typeface="Calibri"/>
              </a:rPr>
              <a:t>on the validation split; test touched once.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035040" y="1463040"/>
          <a:ext cx="566928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Model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Test acc.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RMSE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22B38"/>
                          </a:solidFill>
                          <a:latin typeface="Calibri"/>
                        </a:rPr>
                        <a:t>Random guess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22B38"/>
                          </a:solidFill>
                          <a:latin typeface="Calibri"/>
                        </a:rPr>
                        <a:t>16.7%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22B38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22B38"/>
                          </a:solidFill>
                          <a:latin typeface="Calibri"/>
                        </a:rPr>
                        <a:t>LogReg (PCA)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22B38"/>
                          </a:solidFill>
                          <a:latin typeface="Calibri"/>
                        </a:rPr>
                        <a:t>28.5%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22B38"/>
                          </a:solidFill>
                          <a:latin typeface="Calibri"/>
                        </a:rPr>
                        <a:t>1.37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22B38"/>
                          </a:solidFill>
                          <a:latin typeface="Calibri"/>
                        </a:rPr>
                        <a:t>Linear SVM (PCA)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22B38"/>
                          </a:solidFill>
                          <a:latin typeface="Calibri"/>
                        </a:rPr>
                        <a:t>27.7%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22B38"/>
                          </a:solidFill>
                          <a:latin typeface="Calibri"/>
                        </a:rPr>
                        <a:t>1.37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22B38"/>
                          </a:solidFill>
                          <a:latin typeface="Calibri"/>
                        </a:rPr>
                        <a:t>Decision tree (PCA)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22B38"/>
                          </a:solidFill>
                          <a:latin typeface="Calibri"/>
                        </a:rPr>
                        <a:t>25.5%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22B38"/>
                          </a:solidFill>
                          <a:latin typeface="Calibri"/>
                        </a:rPr>
                        <a:t>1.57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22B38"/>
                          </a:solidFill>
                          <a:latin typeface="Calibri"/>
                        </a:rPr>
                        <a:t>RBF-SVM (PCA)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22B38"/>
                          </a:solidFill>
                          <a:latin typeface="Calibri"/>
                        </a:rPr>
                        <a:t>29.8%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22B38"/>
                          </a:solidFill>
                          <a:latin typeface="Calibri"/>
                        </a:rPr>
                        <a:t>1.32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22B38"/>
                          </a:solidFill>
                          <a:latin typeface="Calibri"/>
                        </a:rPr>
                        <a:t>RBF-SVM (HOG)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22B38"/>
                          </a:solidFill>
                          <a:latin typeface="Calibri"/>
                        </a:rPr>
                        <a:t>31.9%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22B38"/>
                          </a:solidFill>
                          <a:latin typeface="Calibri"/>
                        </a:rPr>
                        <a:t>1.32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035040" y="5120640"/>
            <a:ext cx="5669280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500" b="0" i="1">
                <a:solidFill>
                  <a:srgbClr val="6B7785"/>
                </a:solidFill>
                <a:latin typeface="Calibri"/>
              </a:rPr>
              <a:t>Hand-crafted / linear features struggle with occluded, cluttered bins.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3000" b="1" i="0">
                <a:solidFill>
                  <a:srgbClr val="1F3A5F"/>
                </a:solidFill>
                <a:latin typeface="Calibri"/>
              </a:rPr>
              <a:t>CNN: ImageNet-pretrained ResNet, two-stage fine-tuning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822960" cy="64008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064240" y="6400800"/>
            <a:ext cx="5486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100" b="0" i="0">
                <a:solidFill>
                  <a:srgbClr val="6B7785"/>
                </a:solidFill>
                <a:latin typeface="Calibri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53035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</a:pPr>
            <a:r>
              <a:rPr sz="1700" b="1">
                <a:solidFill>
                  <a:srgbClr val="1F3A5F"/>
                </a:solidFill>
                <a:latin typeface="Calibri"/>
              </a:rPr>
              <a:t>Stage 1: </a:t>
            </a:r>
            <a:r>
              <a:rPr sz="1700">
                <a:solidFill>
                  <a:srgbClr val="222B38"/>
                </a:solidFill>
                <a:latin typeface="Calibri"/>
              </a:rPr>
              <a:t>freeze backbone, train the new head.</a:t>
            </a:r>
          </a:p>
          <a:p>
            <a:pPr>
              <a:spcAft>
                <a:spcPts val="700"/>
              </a:spcAft>
            </a:pPr>
            <a:r>
              <a:rPr sz="1700" b="1">
                <a:solidFill>
                  <a:srgbClr val="1F3A5F"/>
                </a:solidFill>
                <a:latin typeface="Calibri"/>
              </a:rPr>
              <a:t>Stage 2: </a:t>
            </a:r>
            <a:r>
              <a:rPr sz="1700">
                <a:solidFill>
                  <a:srgbClr val="222B38"/>
                </a:solidFill>
                <a:latin typeface="Calibri"/>
              </a:rPr>
              <a:t>unfreeze all; discriminative LRs (lr/9, lr/3, lr).</a:t>
            </a:r>
          </a:p>
          <a:p>
            <a:pPr>
              <a:spcAft>
                <a:spcPts val="700"/>
              </a:spcAft>
            </a:pPr>
            <a:r>
              <a:rPr sz="1700" b="1">
                <a:solidFill>
                  <a:srgbClr val="1F3A5F"/>
                </a:solidFill>
                <a:latin typeface="Calibri"/>
              </a:rPr>
              <a:t>Schedule: </a:t>
            </a:r>
            <a:r>
              <a:rPr sz="1700">
                <a:solidFill>
                  <a:srgbClr val="222B38"/>
                </a:solidFill>
                <a:latin typeface="Calibri"/>
              </a:rPr>
              <a:t>AdamW + cosine annealing with warm restarts (SGDR).</a:t>
            </a:r>
          </a:p>
          <a:p>
            <a:pPr>
              <a:spcAft>
                <a:spcPts val="700"/>
              </a:spcAft>
            </a:pPr>
            <a:r>
              <a:rPr sz="1700" b="1">
                <a:solidFill>
                  <a:srgbClr val="1F3A5F"/>
                </a:solidFill>
                <a:latin typeface="Calibri"/>
              </a:rPr>
              <a:t>LR finder: </a:t>
            </a:r>
            <a:r>
              <a:rPr sz="1700">
                <a:solidFill>
                  <a:srgbClr val="222B38"/>
                </a:solidFill>
                <a:latin typeface="Calibri"/>
              </a:rPr>
              <a:t>range test picks the head LR.</a:t>
            </a:r>
          </a:p>
          <a:p>
            <a:pPr>
              <a:spcAft>
                <a:spcPts val="700"/>
              </a:spcAft>
            </a:pPr>
            <a:r>
              <a:rPr sz="1700" b="1">
                <a:solidFill>
                  <a:srgbClr val="1F3A5F"/>
                </a:solidFill>
                <a:latin typeface="Calibri"/>
              </a:rPr>
              <a:t>Data aug: </a:t>
            </a:r>
            <a:r>
              <a:rPr sz="1700">
                <a:solidFill>
                  <a:srgbClr val="222B38"/>
                </a:solidFill>
                <a:latin typeface="Calibri"/>
              </a:rPr>
              <a:t>h-flip + colour jitter; h-flip TTA at test time.</a:t>
            </a:r>
          </a:p>
          <a:p>
            <a:pPr>
              <a:spcAft>
                <a:spcPts val="700"/>
              </a:spcAft>
            </a:pPr>
            <a:r>
              <a:rPr sz="1700" b="1">
                <a:solidFill>
                  <a:srgbClr val="1F3A5F"/>
                </a:solidFill>
                <a:latin typeface="Calibri"/>
              </a:rPr>
              <a:t>Speed: </a:t>
            </a:r>
            <a:r>
              <a:rPr sz="1700">
                <a:solidFill>
                  <a:srgbClr val="222B38"/>
                </a:solidFill>
                <a:latin typeface="Calibri"/>
              </a:rPr>
              <a:t>mixed precision on a free Colab T4.</a:t>
            </a:r>
          </a:p>
        </p:txBody>
      </p:sp>
      <p:pic>
        <p:nvPicPr>
          <p:cNvPr id="7" name="Picture 6" descr="fig_lrfin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508760"/>
            <a:ext cx="2743200" cy="1828800"/>
          </a:xfrm>
          <a:prstGeom prst="rect">
            <a:avLst/>
          </a:prstGeom>
        </p:spPr>
      </p:pic>
      <p:pic>
        <p:nvPicPr>
          <p:cNvPr id="8" name="Picture 7" descr="fig_training_curv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3624349"/>
            <a:ext cx="5486400" cy="2078181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217920" y="5779007"/>
            <a:ext cx="548640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100" b="0" i="1">
                <a:solidFill>
                  <a:srgbClr val="6B7785"/>
                </a:solidFill>
                <a:latin typeface="Calibri"/>
              </a:rPr>
              <a:t>Best run: loss and accuracy per epoch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2560" y="1828800"/>
            <a:ext cx="2743200" cy="109728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300" b="0" i="0">
                <a:solidFill>
                  <a:srgbClr val="6B7785"/>
                </a:solidFill>
                <a:latin typeface="Calibri"/>
              </a:rPr>
              <a:t>resnet34 | 21.29 M params | 2+9 epochs | head lr 2.9e-05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3000" b="1" i="0">
                <a:solidFill>
                  <a:srgbClr val="1F3A5F"/>
                </a:solidFill>
                <a:latin typeface="Calibri"/>
              </a:rPr>
              <a:t>Ablation: counting is ordinal, not just categorical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822960" cy="64008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064240" y="6400800"/>
            <a:ext cx="5486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100" b="0" i="0">
                <a:solidFill>
                  <a:srgbClr val="6B7785"/>
                </a:solidFill>
                <a:latin typeface="Calibri"/>
              </a:rPr>
              <a:t>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63040"/>
            <a:ext cx="5394960" cy="301752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554480"/>
            <a:ext cx="50292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000" b="1" i="0">
                <a:solidFill>
                  <a:srgbClr val="1F3A5F"/>
                </a:solidFill>
                <a:latin typeface="Calibri"/>
              </a:rPr>
              <a:t>Softmax head (standard)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103120"/>
            <a:ext cx="5029200" cy="1463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0" i="0">
                <a:solidFill>
                  <a:srgbClr val="222B38"/>
                </a:solidFill>
                <a:latin typeface="Calibri"/>
              </a:rPr>
              <a:t>6 outputs, cross-entropy
count = argmax
missing by 1 or by 4 costs the same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463040"/>
            <a:ext cx="5394960" cy="3017520"/>
          </a:xfrm>
          <a:prstGeom prst="roundRect">
            <a:avLst/>
          </a:prstGeom>
          <a:solidFill>
            <a:srgbClr val="F1F5F9"/>
          </a:solidFill>
          <a:ln w="15875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0" y="1554480"/>
            <a:ext cx="5029200" cy="45720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000" b="1" i="0">
                <a:solidFill>
                  <a:srgbClr val="2A9D8F"/>
                </a:solidFill>
                <a:latin typeface="Calibri"/>
              </a:rPr>
              <a:t>Ordinal head (ours)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103120"/>
            <a:ext cx="5029200" cy="14630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700" b="0" i="0">
                <a:solidFill>
                  <a:srgbClr val="222B38"/>
                </a:solidFill>
                <a:latin typeface="Calibri"/>
              </a:rPr>
              <a:t>5 outputs P(count &gt; k), k = 0..4, BCE
count = number of outputs above 0.5
e.g. 3 items -&gt; [1, 1, 1, 0, 0]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846320"/>
            <a:ext cx="11064240" cy="54864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2000" b="1" i="0">
                <a:solidFill>
                  <a:srgbClr val="1F3A5F"/>
                </a:solidFill>
                <a:latin typeface="Calibri"/>
              </a:rPr>
              <a:t>Test result: softmax 41.2% acc, RMSE 1.11   vs   ordinal 39.4% acc, RMSE 1.04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3000" b="1" i="0">
                <a:solidFill>
                  <a:srgbClr val="1F3A5F"/>
                </a:solidFill>
                <a:latin typeface="Calibri"/>
              </a:rPr>
              <a:t>Results: CNN vs. classical models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822960" cy="64008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064240" y="6400800"/>
            <a:ext cx="5486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100" b="0" i="0">
                <a:solidFill>
                  <a:srgbClr val="6B7785"/>
                </a:solidFill>
                <a:latin typeface="Calibri"/>
              </a:rPr>
              <a:t>8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280160"/>
          <a:ext cx="7589520" cy="4846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8412480" y="1371600"/>
            <a:ext cx="2651760" cy="141732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412480" y="1481328"/>
            <a:ext cx="2651760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3400" b="1" i="0">
                <a:solidFill>
                  <a:srgbClr val="2A9D8F"/>
                </a:solidFill>
                <a:latin typeface="Calibri"/>
              </a:rPr>
              <a:t>41.2%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19" y="2212848"/>
            <a:ext cx="2468879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0" i="0">
                <a:solidFill>
                  <a:srgbClr val="6B7785"/>
                </a:solidFill>
                <a:latin typeface="Calibri"/>
              </a:rPr>
              <a:t>best CNN test accuracy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12480" y="2926080"/>
            <a:ext cx="2651760" cy="141732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412480" y="3035808"/>
            <a:ext cx="2651760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3400" b="1" i="0">
                <a:solidFill>
                  <a:srgbClr val="1F3A5F"/>
                </a:solidFill>
                <a:latin typeface="Calibri"/>
              </a:rPr>
              <a:t>1.11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19" y="3767328"/>
            <a:ext cx="2468879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0" i="0">
                <a:solidFill>
                  <a:srgbClr val="6B7785"/>
                </a:solidFill>
                <a:latin typeface="Calibri"/>
              </a:rPr>
              <a:t>RMSE (items)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12480" y="4480560"/>
            <a:ext cx="2651760" cy="141732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412480" y="4590288"/>
            <a:ext cx="2651760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3400" b="1" i="0">
                <a:solidFill>
                  <a:srgbClr val="E76F51"/>
                </a:solidFill>
                <a:latin typeface="Calibri"/>
              </a:rPr>
              <a:t>2.5x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19" y="5321808"/>
            <a:ext cx="2468879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0" i="0">
                <a:solidFill>
                  <a:srgbClr val="6B7785"/>
                </a:solidFill>
                <a:latin typeface="Calibri"/>
              </a:rPr>
              <a:t>vs random guessing (16.7%)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3000" b="1" i="0">
                <a:solidFill>
                  <a:srgbClr val="1F3A5F"/>
                </a:solidFill>
                <a:latin typeface="Calibri"/>
              </a:rPr>
              <a:t>Where does it fail?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822960" cy="64008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064240" y="6400800"/>
            <a:ext cx="5486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100" b="0" i="0">
                <a:solidFill>
                  <a:srgbClr val="6B7785"/>
                </a:solidFill>
                <a:latin typeface="Calibri"/>
              </a:rPr>
              <a:t>9</a:t>
            </a:r>
          </a:p>
        </p:txBody>
      </p:sp>
      <p:pic>
        <p:nvPicPr>
          <p:cNvPr id="6" name="Picture 5" descr="fig_confu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7378"/>
            <a:ext cx="4480560" cy="4008922"/>
          </a:xfrm>
          <a:prstGeom prst="rect">
            <a:avLst/>
          </a:prstGeom>
        </p:spPr>
      </p:pic>
      <p:pic>
        <p:nvPicPr>
          <p:cNvPr id="7" name="Picture 6" descr="fig_per_cla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1427259"/>
            <a:ext cx="4023360" cy="244900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144000" y="1371600"/>
            <a:ext cx="2743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222B38"/>
                </a:solidFill>
                <a:latin typeface="Calibri"/>
              </a:rPr>
              <a:t>83.4% of bins are counted within +-1 item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22B38"/>
                </a:solidFill>
                <a:latin typeface="Calibri"/>
              </a:rPr>
              <a:t>MAE 0.78 items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22B38"/>
                </a:solidFill>
                <a:latin typeface="Calibri"/>
              </a:rPr>
              <a:t>Best on bins with 0 items (98%), weakest on 4 items (24%)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3000" b="1" i="0">
                <a:solidFill>
                  <a:srgbClr val="1F3A5F"/>
                </a:solidFill>
                <a:latin typeface="Calibri"/>
              </a:rPr>
              <a:t>Qualitative examples (test set)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822960" cy="64008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064240" y="6400800"/>
            <a:ext cx="5486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100" b="0" i="0">
                <a:solidFill>
                  <a:srgbClr val="6B7785"/>
                </a:solidFill>
                <a:latin typeface="Calibri"/>
              </a:rPr>
              <a:t>10</a:t>
            </a:r>
          </a:p>
        </p:txBody>
      </p:sp>
      <p:pic>
        <p:nvPicPr>
          <p:cNvPr id="6" name="Picture 5" descr="fig_examp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48739"/>
            <a:ext cx="7680960" cy="41605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503920" y="1645920"/>
            <a:ext cx="32918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222B38"/>
                </a:solidFill>
                <a:latin typeface="Calibri"/>
              </a:rPr>
              <a:t>Top row: correct counts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22B38"/>
                </a:solidFill>
                <a:latin typeface="Calibri"/>
              </a:rPr>
              <a:t>Bottom row: mistakes - look for occlusion, tape or overlapping items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222B38"/>
                </a:solidFill>
                <a:latin typeface="Calibri"/>
              </a:rPr>
              <a:t>Some bins are hard to count even for a human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3000" b="1" i="0">
                <a:solidFill>
                  <a:srgbClr val="1F3A5F"/>
                </a:solidFill>
                <a:latin typeface="Calibri"/>
              </a:rPr>
              <a:t>From counts to inventory reconciliation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822960" cy="64008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064240" y="6400800"/>
            <a:ext cx="5486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100" b="0" i="0">
                <a:solidFill>
                  <a:srgbClr val="6B7785"/>
                </a:solidFill>
                <a:latin typeface="Calibri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1F3A5F"/>
                </a:solidFill>
                <a:latin typeface="Calibri"/>
              </a:rPr>
              <a:t>Simulation: </a:t>
            </a:r>
            <a:r>
              <a:rPr sz="1600">
                <a:solidFill>
                  <a:srgbClr val="222B38"/>
                </a:solidFill>
                <a:latin typeface="Calibri"/>
              </a:rPr>
              <a:t>recorded count wrong by +-1/2 items in 15% of test bins (public data has only true counts).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3A5F"/>
                </a:solidFill>
                <a:latin typeface="Calibri"/>
              </a:rPr>
              <a:t>Rule: </a:t>
            </a:r>
            <a:r>
              <a:rPr sz="1600">
                <a:solidFill>
                  <a:srgbClr val="222B38"/>
                </a:solidFill>
                <a:latin typeface="Calibri"/>
              </a:rPr>
              <a:t>flag a bin when predicted != recorded.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1F3A5F"/>
                </a:solidFill>
                <a:latin typeface="Calibri"/>
              </a:rPr>
              <a:t>Score: </a:t>
            </a:r>
            <a:r>
              <a:rPr sz="1600">
                <a:solidFill>
                  <a:srgbClr val="222B38"/>
                </a:solidFill>
                <a:latin typeface="Calibri"/>
              </a:rPr>
              <a:t>1 - P(recorded count) as threshold-free detector (AUROC).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463040"/>
            <a:ext cx="2560320" cy="141732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0" y="1572768"/>
            <a:ext cx="2560320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3400" b="1" i="0">
                <a:solidFill>
                  <a:srgbClr val="2A9D8F"/>
                </a:solidFill>
                <a:latin typeface="Calibri"/>
              </a:rPr>
              <a:t>19.4%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2304288"/>
            <a:ext cx="2377439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0" i="0">
                <a:solidFill>
                  <a:srgbClr val="6B7785"/>
                </a:solidFill>
                <a:latin typeface="Calibri"/>
              </a:rPr>
              <a:t>precision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0" y="1463040"/>
            <a:ext cx="2560320" cy="141732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0" y="1572768"/>
            <a:ext cx="2560320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3400" b="1" i="0">
                <a:solidFill>
                  <a:srgbClr val="2A9D8F"/>
                </a:solidFill>
                <a:latin typeface="Calibri"/>
              </a:rPr>
              <a:t>81.4%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35440" y="2304288"/>
            <a:ext cx="2377439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0" i="0">
                <a:solidFill>
                  <a:srgbClr val="6B7785"/>
                </a:solidFill>
                <a:latin typeface="Calibri"/>
              </a:rPr>
              <a:t>recall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0" y="3108960"/>
            <a:ext cx="2560320" cy="141732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0" y="3218688"/>
            <a:ext cx="2560320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3400" b="1" i="0">
                <a:solidFill>
                  <a:srgbClr val="1F3A5F"/>
                </a:solidFill>
                <a:latin typeface="Calibri"/>
              </a:rPr>
              <a:t>0.31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3950208"/>
            <a:ext cx="2377439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0" i="0">
                <a:solidFill>
                  <a:srgbClr val="6B7785"/>
                </a:solidFill>
                <a:latin typeface="Calibri"/>
              </a:rPr>
              <a:t>F1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0" y="3108960"/>
            <a:ext cx="2560320" cy="1417320"/>
          </a:xfrm>
          <a:prstGeom prst="round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9144000" y="3218688"/>
            <a:ext cx="2560320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3400" b="1" i="0">
                <a:solidFill>
                  <a:srgbClr val="1F3A5F"/>
                </a:solidFill>
                <a:latin typeface="Calibri"/>
              </a:rPr>
              <a:t>0.73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35440" y="3950208"/>
            <a:ext cx="2377439" cy="5029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ctr"/>
            <a:r>
              <a:rPr sz="1300" b="0" i="0">
                <a:solidFill>
                  <a:srgbClr val="6B7785"/>
                </a:solidFill>
                <a:latin typeface="Calibri"/>
              </a:rPr>
              <a:t>AUROC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4663440"/>
            <a:ext cx="5303520" cy="36576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1200" b="0" i="1">
                <a:solidFill>
                  <a:srgbClr val="6B7785"/>
                </a:solidFill>
                <a:latin typeface="Calibri"/>
              </a:rPr>
              <a:t>mean over 20 random draws of the simulated errors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3000" b="1" i="0">
                <a:solidFill>
                  <a:srgbClr val="1F3A5F"/>
                </a:solidFill>
                <a:latin typeface="Calibri"/>
              </a:rPr>
              <a:t>Live demo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822960" cy="64008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064240" y="6400800"/>
            <a:ext cx="5486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100" b="0" i="0">
                <a:solidFill>
                  <a:srgbClr val="6B7785"/>
                </a:solidFill>
                <a:latin typeface="Calibri"/>
              </a:rPr>
              <a:t>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54480"/>
            <a:ext cx="2526030" cy="1371600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Upload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bin photo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111246" y="2121408"/>
            <a:ext cx="246887" cy="237744"/>
          </a:xfrm>
          <a:prstGeom prst="rightArrow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3394710" y="1554480"/>
            <a:ext cx="2526030" cy="1371600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Type recorded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count</a:t>
            </a:r>
          </a:p>
        </p:txBody>
      </p:sp>
      <p:sp>
        <p:nvSpPr>
          <p:cNvPr id="9" name="Right Arrow 8"/>
          <p:cNvSpPr/>
          <p:nvPr/>
        </p:nvSpPr>
        <p:spPr>
          <a:xfrm>
            <a:off x="5957316" y="2121408"/>
            <a:ext cx="246887" cy="237744"/>
          </a:xfrm>
          <a:prstGeom prst="rightArrow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240780" y="1554480"/>
            <a:ext cx="2526030" cy="1371600"/>
          </a:xfrm>
          <a:prstGeom prst="roundRect">
            <a:avLst/>
          </a:prstGeom>
          <a:solidFill>
            <a:srgbClr val="1F3A5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Model counts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(+ TTA)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8803386" y="2121408"/>
            <a:ext cx="246887" cy="237744"/>
          </a:xfrm>
          <a:prstGeom prst="rightArrow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9086850" y="1554480"/>
            <a:ext cx="2526030" cy="1371600"/>
          </a:xfrm>
          <a:prstGeom prst="round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MATCH or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VARIANCE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383280"/>
            <a:ext cx="10515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1">
                <a:solidFill>
                  <a:srgbClr val="1F3A5F"/>
                </a:solidFill>
                <a:latin typeface="Calibri"/>
              </a:rPr>
              <a:t>Run: </a:t>
            </a:r>
            <a:r>
              <a:rPr sz="1800">
                <a:solidFill>
                  <a:srgbClr val="222B38"/>
                </a:solidFill>
                <a:latin typeface="Calibri"/>
              </a:rPr>
              <a:t>python demo.py --run runs/&lt;best&gt; --gradio  (public link in Colab)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1F3A5F"/>
                </a:solidFill>
                <a:latin typeface="Calibri"/>
              </a:rPr>
              <a:t>CLI: </a:t>
            </a:r>
            <a:r>
              <a:rPr sz="1800">
                <a:solidFill>
                  <a:srgbClr val="222B38"/>
                </a:solidFill>
                <a:latin typeface="Calibri"/>
              </a:rPr>
              <a:t>python demo.py --run runs/&lt;best&gt; --image bin.jpg --recorded 3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1F3A5F"/>
                </a:solidFill>
                <a:latin typeface="Calibri"/>
              </a:rPr>
              <a:t>Batch: </a:t>
            </a:r>
            <a:r>
              <a:rPr sz="1800">
                <a:solidFill>
                  <a:srgbClr val="222B38"/>
                </a:solidFill>
                <a:latin typeface="Calibri"/>
              </a:rPr>
              <a:t>--csv recorded.csv --images data/images -&gt; reconciliation_report.csv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1F3A5F"/>
                </a:solidFill>
                <a:latin typeface="Calibri"/>
              </a:rPr>
              <a:t>Output: </a:t>
            </a:r>
            <a:r>
              <a:rPr sz="1800">
                <a:solidFill>
                  <a:srgbClr val="222B38"/>
                </a:solidFill>
                <a:latin typeface="Calibri"/>
              </a:rPr>
              <a:t>predicted count, class probabilities, P(recorded count), recount flag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3000" b="1" i="0">
                <a:solidFill>
                  <a:srgbClr val="1F3A5F"/>
                </a:solidFill>
                <a:latin typeface="Calibri"/>
              </a:rPr>
              <a:t>Conclusions and future work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822960" cy="64008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064240" y="6400800"/>
            <a:ext cx="5486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100" b="0" i="0">
                <a:solidFill>
                  <a:srgbClr val="6B7785"/>
                </a:solidFill>
                <a:latin typeface="Calibri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000" b="1">
                <a:solidFill>
                  <a:srgbClr val="1F3A5F"/>
                </a:solidFill>
                <a:latin typeface="Calibri"/>
              </a:rPr>
              <a:t>CNN beats classical: </a:t>
            </a:r>
            <a:r>
              <a:rPr sz="2000">
                <a:solidFill>
                  <a:srgbClr val="222B38"/>
                </a:solidFill>
                <a:latin typeface="Calibri"/>
              </a:rPr>
              <a:t>41.2% test accuracy, RMSE 1.11 - 2.5x random, +29% vs best classical (31.9%).</a:t>
            </a:r>
          </a:p>
          <a:p>
            <a:pPr>
              <a:spcAft>
                <a:spcPts val="1200"/>
              </a:spcAft>
            </a:pPr>
            <a:r>
              <a:rPr sz="2000" b="1">
                <a:solidFill>
                  <a:srgbClr val="1F3A5F"/>
                </a:solidFill>
                <a:latin typeface="Calibri"/>
              </a:rPr>
              <a:t>Context: </a:t>
            </a:r>
            <a:r>
              <a:rPr sz="2000">
                <a:solidFill>
                  <a:srgbClr val="222B38"/>
                </a:solidFill>
                <a:latin typeface="Calibri"/>
              </a:rPr>
              <a:t>Stanford ResNet34 paper reports 56.2% / RMSE 0.90 on a different, larger subset - only indicative.</a:t>
            </a:r>
          </a:p>
          <a:p>
            <a:pPr>
              <a:spcAft>
                <a:spcPts val="1200"/>
              </a:spcAft>
            </a:pPr>
            <a:r>
              <a:rPr sz="2000" b="1">
                <a:solidFill>
                  <a:srgbClr val="1F3A5F"/>
                </a:solidFill>
                <a:latin typeface="Calibri"/>
              </a:rPr>
              <a:t>Practical: </a:t>
            </a:r>
            <a:r>
              <a:rPr sz="2000">
                <a:solidFill>
                  <a:srgbClr val="222B38"/>
                </a:solidFill>
                <a:latin typeface="Calibri"/>
              </a:rPr>
              <a:t>predicted counts can flag mismatching bins for targeted recounts.</a:t>
            </a:r>
          </a:p>
          <a:p>
            <a:pPr>
              <a:spcAft>
                <a:spcPts val="1200"/>
              </a:spcAft>
            </a:pPr>
            <a:r>
              <a:rPr sz="2000" b="1">
                <a:solidFill>
                  <a:srgbClr val="1F3A5F"/>
                </a:solidFill>
                <a:latin typeface="Calibri"/>
              </a:rPr>
              <a:t>Limits: </a:t>
            </a:r>
            <a:r>
              <a:rPr sz="2000">
                <a:solidFill>
                  <a:srgbClr val="222B38"/>
                </a:solidFill>
                <a:latin typeface="Calibri"/>
              </a:rPr>
              <a:t>occlusion caps accuracy; single split/seed; recording errors simulated.</a:t>
            </a:r>
          </a:p>
          <a:p>
            <a:pPr>
              <a:spcAft>
                <a:spcPts val="1200"/>
              </a:spcAft>
            </a:pPr>
            <a:r>
              <a:rPr sz="2000" b="1">
                <a:solidFill>
                  <a:srgbClr val="1F3A5F"/>
                </a:solidFill>
                <a:latin typeface="Calibri"/>
              </a:rPr>
              <a:t>Next: </a:t>
            </a:r>
            <a:r>
              <a:rPr sz="2000">
                <a:solidFill>
                  <a:srgbClr val="222B38"/>
                </a:solidFill>
                <a:latin typeface="Calibri"/>
              </a:rPr>
              <a:t>clean occluded labels, ensembles, higher resolution, multi-angle photos, real variance logs.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l"/>
            <a:r>
              <a:rPr sz="3000" b="1" i="0">
                <a:solidFill>
                  <a:srgbClr val="1F3A5F"/>
                </a:solidFill>
                <a:latin typeface="Calibri"/>
              </a:rPr>
              <a:t>Backup: setup details and repository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051560"/>
            <a:ext cx="822960" cy="64008"/>
          </a:xfrm>
          <a:prstGeom prst="rect">
            <a:avLst/>
          </a:prstGeom>
          <a:solidFill>
            <a:srgbClr val="2A9D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064240" y="6400800"/>
            <a:ext cx="548640" cy="274320"/>
          </a:xfrm>
          <a:prstGeom prst="rect">
            <a:avLst/>
          </a:prstGeom>
          <a:noFill/>
        </p:spPr>
        <p:txBody>
          <a:bodyPr wrap="square" lIns="45720" rIns="45720" anchor="t">
            <a:spAutoFit/>
          </a:bodyPr>
          <a:lstStyle/>
          <a:p>
            <a:pPr algn="r"/>
            <a:r>
              <a:rPr sz="1100" b="0" i="0">
                <a:solidFill>
                  <a:srgbClr val="6B7785"/>
                </a:solidFill>
                <a:latin typeface="Calibri"/>
              </a:rPr>
              <a:t>14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463040"/>
          <a:ext cx="1106424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86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80060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Item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Calibri"/>
                        </a:rPr>
                        <a:t>Value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22B38"/>
                          </a:solidFill>
                          <a:latin typeface="Calibri"/>
                        </a:rPr>
                        <a:t>Subset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22B38"/>
                          </a:solidFill>
                          <a:latin typeface="Calibri"/>
                        </a:rPr>
                        <a:t>30,000 images, bins with 0-5 items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22B38"/>
                          </a:solidFill>
                          <a:latin typeface="Calibri"/>
                        </a:rPr>
                        <a:t>Input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22B38"/>
                          </a:solidFill>
                          <a:latin typeface="Calibri"/>
                        </a:rPr>
                        <a:t>224x224 RGB, ImageNet normalisation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22B38"/>
                          </a:solidFill>
                          <a:latin typeface="Calibri"/>
                        </a:rPr>
                        <a:t>Best CNN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22B38"/>
                          </a:solidFill>
                          <a:latin typeface="Calibri"/>
                        </a:rPr>
                        <a:t>resnet34, cls head, 2+9 epochs, lr 2.9e-05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22B38"/>
                          </a:solidFill>
                          <a:latin typeface="Calibri"/>
                        </a:rPr>
                        <a:t>Optimiser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22B38"/>
                          </a:solidFill>
                          <a:latin typeface="Calibri"/>
                        </a:rPr>
                        <a:t>AdamW (wd 0.01), SGDR cosine restarts, AMP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22B38"/>
                          </a:solidFill>
                          <a:latin typeface="Calibri"/>
                        </a:rPr>
                        <a:t>Hardware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22B38"/>
                          </a:solidFill>
                          <a:latin typeface="Calibri"/>
                        </a:rPr>
                        <a:t>Tesla T4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22B38"/>
                          </a:solidFill>
                          <a:latin typeface="Calibri"/>
                        </a:rPr>
                        <a:t>Latency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22B38"/>
                          </a:solidFill>
                          <a:latin typeface="Calibri"/>
                        </a:rPr>
                        <a:t>6.2 ms / image (batch 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80060"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222B38"/>
                          </a:solidFill>
                          <a:latin typeface="Calibri"/>
                        </a:rPr>
                        <a:t>Repo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222B38"/>
                          </a:solidFill>
                          <a:latin typeface="Calibri"/>
                        </a:rPr>
                        <a:t>download_data, build_splits, baselines, train_cnn, make_results, demo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1112</Words>
  <Application>Microsoft Office PowerPoint</Application>
  <PresentationFormat>Widescreen</PresentationFormat>
  <Paragraphs>160</Paragraphs>
  <Slides>14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Aarush Patil</cp:lastModifiedBy>
  <cp:revision>1</cp:revision>
  <dcterms:created xsi:type="dcterms:W3CDTF">2013-01-27T09:14:16Z</dcterms:created>
  <dcterms:modified xsi:type="dcterms:W3CDTF">2026-10-15T19:38:48Z</dcterms:modified>
  <cp:category/>
</cp:coreProperties>
</file>